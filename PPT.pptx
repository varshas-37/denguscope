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363" r:id="rId3"/>
    <p:sldId id="348" r:id="rId4"/>
    <p:sldId id="382" r:id="rId5"/>
    <p:sldId id="375" r:id="rId6"/>
    <p:sldId id="366" r:id="rId7"/>
    <p:sldId id="376" r:id="rId8"/>
    <p:sldId id="377" r:id="rId9"/>
    <p:sldId id="368" r:id="rId10"/>
    <p:sldId id="369" r:id="rId11"/>
    <p:sldId id="379" r:id="rId12"/>
    <p:sldId id="370" r:id="rId13"/>
    <p:sldId id="383" r:id="rId14"/>
    <p:sldId id="380" r:id="rId15"/>
    <p:sldId id="372" r:id="rId16"/>
    <p:sldId id="371" r:id="rId17"/>
    <p:sldId id="3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2916C-8022-419D-AA3D-B0E4E9A95F4B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66B3-F36B-4886-A5C5-BCFA39C48C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69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B66B3-F36B-4886-A5C5-BCFA39C48C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654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B66B3-F36B-4886-A5C5-BCFA39C48C0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2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B66B3-F36B-4886-A5C5-BCFA39C48C0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5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7F73-5CF5-78A2-EBFF-0CF46E3A1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F0C5D-0004-7317-089C-AA43E1DAB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952C6-1F4F-94BF-8A36-8EF146907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FB64-9503-DFCA-BBD6-83D9A1E7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66346-3CF9-AE58-9E5B-6025E32A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62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68F9-2F83-1BDC-0220-CAB0033C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095D-242E-D2C2-BD8E-1E737DB2A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B7F58-37F9-1089-C2D1-CF8DB44E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E91E6-76C9-2837-987C-A429E751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F2E7C-F0CD-676E-AAC6-776CE144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5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9D83-70A3-701E-1B0D-9E8398A4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372CE-C573-41DC-AE35-D1679A7AB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7E94E-E4DB-2C88-721F-AD8FF083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35E0-39F5-7924-6416-837437AD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13C5-343C-49E6-BA39-BC7F02CB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12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1CCC-4FCB-97FE-B971-49B97040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A7F4-A0BD-488B-C81A-8F03A8B36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58D6B-0170-14F3-740F-CA195647A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6ADB1-2FC1-C29E-905B-632CEB52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AB7D-E554-1B63-BE66-1122A448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64FA3-5CC6-98B2-A0B7-ED7C9FE0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99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44A1-8218-ACC2-012C-66E04D61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6991-71D2-54FB-0C03-BF04D354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801F8-5DBB-26AB-9E38-890296EDF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D6D9-6689-992B-0D44-EBEAC42C7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88C00-C429-2E0E-59C1-B7B8CDF3C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C9401-E3E2-FA89-F44C-772A7FC2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D5187-E785-BC55-DD98-5F284A65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AF035-11B3-595E-C905-B358CFEF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63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09C2-44A6-8F99-BD87-EA90EEB4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BA230-C6D6-C15F-95BD-C311EA12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B316A-84F2-466F-C85E-A02FB944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B10CA-F864-897A-AEF2-5D058AED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542F4-39CA-302C-D355-DE786551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0BDAF-D9D1-8A3B-3B86-E960F6F2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21F6-80B7-8C24-BDB6-1C427D3F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29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D213-A3FA-3248-8BFC-D5C8FC07F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6823-6D16-7E96-DBFB-666070CA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C71A7-A49B-0D56-2525-762EED438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CCB08-FC36-35EC-1D58-52565F76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46919-F9C1-AE5D-EB0C-C3109BA7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5E0F5-A215-5B4C-28F8-69ED0C85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95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8B11-58C9-67D6-B0A5-C184EE11F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6E83C-DFFD-ECAB-922A-446B3B272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BCC9B-9733-208D-1CF8-DF6C7F8AB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6E745-25B8-DE89-931C-B627F1EE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3CB8B-81BC-B3F9-BE4E-C9CB8FD0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20FB-D3C1-638E-8842-7AAB5BBC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43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174BF-A71A-215E-7531-F77E34E2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E105B-71B0-CB62-CC58-2BE58512A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89DBA-4AE9-EC44-F3DE-066705B8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F978C-E97A-C6A2-8F1D-E9C8D1FE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0264-A082-880A-455A-8C39E1A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53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F040A-B0B2-FAD5-E802-71EDB3A71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03A21-A0BF-71DD-2A4B-26C386CD8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08D77-7B4F-7E3F-B4CF-FDF308A7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8BA4-45C3-7CF7-F0A4-05673860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88103-3682-CCC9-5061-8B0E6094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11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322EC-4A4B-425D-C79C-74E54610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13731-0447-341C-B809-60CBB094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9152C-5FE5-06D5-C1A9-2CF5E95E1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DBF5-2FC6-41DF-809B-3E3DE041FDE9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CB9D-FF34-5817-77FD-43CDF5285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936D5-1F27-0A86-6984-F76794EA9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33EE3-B4D5-4662-940D-C19A49122A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79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arshas.shinyapps.io/Denguscope/" TargetMode="Externa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0777-1BC5-42F6-8362-7061939AB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5" y="1950250"/>
            <a:ext cx="10999305" cy="1376050"/>
          </a:xfrm>
        </p:spPr>
        <p:txBody>
          <a:bodyPr anchor="ctr"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DenguScope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Identification of Transcriptomic Biomarkers for Dengue Infection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1A3A5B-CF7E-4B6D-AFA5-5682A49736A7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BE446F9-6321-43A4-B0C9-552F8D3CF59E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BE3DE5-1ADB-4B8C-A3E9-B037DCA34702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19B4428-13E5-4CC3-AA77-1EC0E392A165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2E9965D-FFE5-4086-99C7-AB7A1D914D9A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11" name="Picture 10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D3A27D3-5D57-49B8-9F05-17D3E9689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" y="216368"/>
              <a:ext cx="2514872" cy="118369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4B196F-62A5-4E09-B415-B1A8D796AC41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2BF6D1B-BA1E-4246-9162-4671A01CD176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834AA91E-2F95-4DF1-BA91-72263531D4F5}"/>
              </a:ext>
            </a:extLst>
          </p:cNvPr>
          <p:cNvSpPr txBox="1">
            <a:spLocks/>
          </p:cNvSpPr>
          <p:nvPr/>
        </p:nvSpPr>
        <p:spPr>
          <a:xfrm>
            <a:off x="258147" y="4644384"/>
            <a:ext cx="6085815" cy="1720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S Varsha (</a:t>
            </a:r>
            <a:r>
              <a:rPr lang="en-US" sz="2000" b="1" dirty="0"/>
              <a:t>24L10930)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MSc. Bioinformatics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Department of Biotechnology &amp; Bioinformatics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JSS Academy of Higher Education &amp; Research, Mysuru, India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3BE580F4-AC25-4E8B-AAC0-07760D9B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</a:t>
            </a:fld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449455-6121-4038-5CA6-777847BA4C0E}"/>
              </a:ext>
            </a:extLst>
          </p:cNvPr>
          <p:cNvSpPr txBox="1"/>
          <p:nvPr/>
        </p:nvSpPr>
        <p:spPr>
          <a:xfrm>
            <a:off x="258147" y="3593985"/>
            <a:ext cx="11933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20</a:t>
            </a:r>
            <a:r>
              <a:rPr lang="en-IN" sz="24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July 2026                                   Venue: SLSM, Mysuru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94FC6-9AB0-518A-1B2B-F2B3597BD04C}"/>
              </a:ext>
            </a:extLst>
          </p:cNvPr>
          <p:cNvSpPr txBox="1">
            <a:spLocks/>
          </p:cNvSpPr>
          <p:nvPr/>
        </p:nvSpPr>
        <p:spPr>
          <a:xfrm>
            <a:off x="5977110" y="4639868"/>
            <a:ext cx="6085815" cy="1720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Dr. Kiran Kumar M 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Associate Professor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Department of Biotechnology &amp; Bioinformatics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JSS Academy of Higher Education &amp; Research, Mysuru, India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4668E-FF1F-E090-8EEF-C29C1B10EA12}"/>
              </a:ext>
            </a:extLst>
          </p:cNvPr>
          <p:cNvSpPr txBox="1"/>
          <p:nvPr/>
        </p:nvSpPr>
        <p:spPr>
          <a:xfrm>
            <a:off x="129072" y="1284129"/>
            <a:ext cx="11933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M.Sc., Dissertation 2026</a:t>
            </a:r>
          </a:p>
        </p:txBody>
      </p:sp>
    </p:spTree>
    <p:extLst>
      <p:ext uri="{BB962C8B-B14F-4D97-AF65-F5344CB8AC3E}">
        <p14:creationId xmlns:p14="http://schemas.microsoft.com/office/powerpoint/2010/main" val="170205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E774-3C80-40D9-92FB-E265F747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681" y="234524"/>
            <a:ext cx="10208635" cy="758128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Infection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7C5671-6D49-42CE-89F4-EF7D2A696B72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234EDB-509C-4A1D-AF07-267C9763ED30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F815B1-1A6D-404F-8406-E14034E5C32F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1B24FF7-43DC-4AE7-82B4-07F9EF37D23D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4600FD-29F2-4607-8FA9-FEC561A2130E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E33C17-78EA-47FC-A4F0-75BA4E34B4E2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E69A0A-33F9-4687-B396-ED4BD5F7EC40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ACE0D2B-5CCA-4206-91EB-418ECE08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2</a:t>
            </a:fld>
            <a:endParaRPr lang="en-IN" dirty="0"/>
          </a:p>
        </p:txBody>
      </p:sp>
      <p:sp>
        <p:nvSpPr>
          <p:cNvPr id="4" name="Date Placeholder 38">
            <a:extLst>
              <a:ext uri="{FF2B5EF4-FFF2-40B4-BE49-F238E27FC236}">
                <a16:creationId xmlns:a16="http://schemas.microsoft.com/office/drawing/2014/main" id="{13FECB97-CA87-7FF2-06BB-34E8C568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AAEF1A54-9B05-CF8C-AADA-982F2EEDC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" y="209127"/>
            <a:ext cx="1480515" cy="696847"/>
          </a:xfrm>
          <a:prstGeom prst="rect">
            <a:avLst/>
          </a:prstGeom>
        </p:spPr>
      </p:pic>
      <p:pic>
        <p:nvPicPr>
          <p:cNvPr id="15" name="Picture 14" descr="Structure and serotype of the dengue virus: Structure of Dengue virus with RNA genome and envelope [12]. Four serotypes of DENV are reported (DENV1, DENV2, DENV3, and DEN4) adapted from [13]. Figure created using biorender.com.">
            <a:extLst>
              <a:ext uri="{FF2B5EF4-FFF2-40B4-BE49-F238E27FC236}">
                <a16:creationId xmlns:a16="http://schemas.microsoft.com/office/drawing/2014/main" id="{59B14D1B-C662-98BA-EAAC-F9246F3E1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577" y="1384625"/>
            <a:ext cx="6502672" cy="406680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Box 2">
            <a:extLst>
              <a:ext uri="{FF2B5EF4-FFF2-40B4-BE49-F238E27FC236}">
                <a16:creationId xmlns:a16="http://schemas.microsoft.com/office/drawing/2014/main" id="{B5F0C07B-9329-FCBC-EBBA-0CC265DF7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912" y="5706550"/>
            <a:ext cx="5118538" cy="390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Structure and serotype of the dengue virus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F73A47D8-8B0A-12B9-7A11-EF682860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Dept. of BT &amp; BI - FLS, JSS AHER</a:t>
            </a:r>
          </a:p>
        </p:txBody>
      </p:sp>
      <p:pic>
        <p:nvPicPr>
          <p:cNvPr id="21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956F6C69-461D-C940-8BF8-A4B69249D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20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37C5671-6D49-42CE-89F4-EF7D2A696B72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234EDB-509C-4A1D-AF07-267C9763ED30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F815B1-1A6D-404F-8406-E14034E5C32F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1B24FF7-43DC-4AE7-82B4-07F9EF37D23D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24600FD-29F2-4607-8FA9-FEC561A2130E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E33C17-78EA-47FC-A4F0-75BA4E34B4E2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E69A0A-33F9-4687-B396-ED4BD5F7EC40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ACE0D2B-5CCA-4206-91EB-418ECE08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3</a:t>
            </a:fld>
            <a:endParaRPr lang="en-IN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AAEF1A54-9B05-CF8C-AADA-982F2EEDC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9" y="209905"/>
            <a:ext cx="1480515" cy="696847"/>
          </a:xfrm>
          <a:prstGeom prst="rect">
            <a:avLst/>
          </a:prstGeom>
        </p:spPr>
      </p:pic>
      <p:pic>
        <p:nvPicPr>
          <p:cNvPr id="4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D66DE08A-4A1E-52EB-0C63-DDC20AC8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E9785F3F-6D2B-D0B6-4A49-9B9711A303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40"/>
          <a:stretch>
            <a:fillRect/>
          </a:stretch>
        </p:blipFill>
        <p:spPr>
          <a:xfrm>
            <a:off x="1968087" y="1038640"/>
            <a:ext cx="8255824" cy="5291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8E774-3C80-40D9-92FB-E265F747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36" y="240405"/>
            <a:ext cx="10208635" cy="758128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Why Transcriptomic Biomarkers?</a:t>
            </a:r>
          </a:p>
        </p:txBody>
      </p:sp>
      <p:sp>
        <p:nvSpPr>
          <p:cNvPr id="21" name="Date Placeholder 38">
            <a:extLst>
              <a:ext uri="{FF2B5EF4-FFF2-40B4-BE49-F238E27FC236}">
                <a16:creationId xmlns:a16="http://schemas.microsoft.com/office/drawing/2014/main" id="{E76716E3-B836-718E-30E5-A235076A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17860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B55BD4E9-84BE-2737-3F0A-DDBA78E4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Dept. of BT &amp; BI - FLS, JSS AHER</a:t>
            </a:r>
          </a:p>
        </p:txBody>
      </p:sp>
    </p:spTree>
    <p:extLst>
      <p:ext uri="{BB962C8B-B14F-4D97-AF65-F5344CB8AC3E}">
        <p14:creationId xmlns:p14="http://schemas.microsoft.com/office/powerpoint/2010/main" val="259611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430C-02CF-9BE8-3C4C-23575269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4043AF-6801-1062-6A19-BE87394F51AD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D6681D-53C9-E3C9-618C-5FB1DFECBFF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386054D-7AAB-950B-8483-1D9A2DA3DC72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2B7C65-28A0-11FD-5BAA-1491A52D6192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CF02F64-43B2-C49D-534F-9D3703FD0680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B33B24-F00A-4E00-E451-E2B2EDB21BC8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B697E9-8D92-A7C7-0021-78928DB9F402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980641D-32B5-9BD2-C53B-2CA62629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4</a:t>
            </a:fld>
            <a:endParaRPr lang="en-IN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1D6F342-1D63-D446-3D94-5F9A67135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" y="209127"/>
            <a:ext cx="1480515" cy="696847"/>
          </a:xfrm>
          <a:prstGeom prst="rect">
            <a:avLst/>
          </a:prstGeom>
        </p:spPr>
      </p:pic>
      <p:sp>
        <p:nvSpPr>
          <p:cNvPr id="9" name="Date Placeholder 38">
            <a:extLst>
              <a:ext uri="{FF2B5EF4-FFF2-40B4-BE49-F238E27FC236}">
                <a16:creationId xmlns:a16="http://schemas.microsoft.com/office/drawing/2014/main" id="{471A1594-3F70-C86F-3F9E-7C3CDC29BDC1}"/>
              </a:ext>
            </a:extLst>
          </p:cNvPr>
          <p:cNvSpPr txBox="1">
            <a:spLocks/>
          </p:cNvSpPr>
          <p:nvPr/>
        </p:nvSpPr>
        <p:spPr>
          <a:xfrm>
            <a:off x="11941" y="6366600"/>
            <a:ext cx="10372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20-07-2026</a:t>
            </a:r>
            <a:endParaRPr lang="en-IN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3478A31-54E4-C13C-9334-30AD2E73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Dept. of BT &amp; BI - FLS, JSS AHER</a:t>
            </a:r>
          </a:p>
        </p:txBody>
      </p:sp>
      <p:pic>
        <p:nvPicPr>
          <p:cNvPr id="16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9E7B6DAF-26BF-4E33-84AD-5840039C0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5C55992-D7D2-AF5C-1B7C-5E5D8A867AC5}"/>
              </a:ext>
            </a:extLst>
          </p:cNvPr>
          <p:cNvSpPr txBox="1">
            <a:spLocks/>
          </p:cNvSpPr>
          <p:nvPr/>
        </p:nvSpPr>
        <p:spPr>
          <a:xfrm>
            <a:off x="427991" y="2989572"/>
            <a:ext cx="2310239" cy="1246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RNA-</a:t>
            </a:r>
            <a:r>
              <a:rPr lang="en-IN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Seq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 Workflow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rawing">
            <a:extLst>
              <a:ext uri="{FF2B5EF4-FFF2-40B4-BE49-F238E27FC236}">
                <a16:creationId xmlns:a16="http://schemas.microsoft.com/office/drawing/2014/main" id="{6B7BEB54-7C58-5483-4B20-364886C17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230" y="232331"/>
            <a:ext cx="9379715" cy="648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96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8987-539E-E4DE-F57C-1F233D25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1312-B852-E59B-2982-F2809FEC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36" y="257319"/>
            <a:ext cx="10208635" cy="758128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76449B-648E-8D71-014E-C43D82631A04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D37F89-93A4-4813-2E97-A1327548E7B0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741815-10F5-A74B-46CD-08E44D699A49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056655-AD07-0034-CEEB-A18A9C88B5C9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2909AF-07C5-5297-98B4-AAE73B83C1B3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FD3A0C-4D2C-9025-E8BE-F2C01CF4102C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ADAF83-5C65-F49D-A6AF-4B4E43ED1644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43E5DA40-9231-416E-A088-53997FA6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5</a:t>
            </a:fld>
            <a:endParaRPr lang="en-IN" dirty="0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9425056C-C316-8FE0-76F3-F9FC931D0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" y="209127"/>
            <a:ext cx="1480515" cy="696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D2FA80-7D13-029A-9185-4776A57D20A1}"/>
              </a:ext>
            </a:extLst>
          </p:cNvPr>
          <p:cNvSpPr txBox="1"/>
          <p:nvPr/>
        </p:nvSpPr>
        <p:spPr>
          <a:xfrm>
            <a:off x="595679" y="2122071"/>
            <a:ext cx="11234371" cy="176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identify differentially expressed genes (DEGs) associated with dengue infection.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identify key biological pathways involved in dengue infection.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identify candidate biomarker genes for future validation and development of targeted molecular diagnostic assays.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Date Placeholder 38">
            <a:extLst>
              <a:ext uri="{FF2B5EF4-FFF2-40B4-BE49-F238E27FC236}">
                <a16:creationId xmlns:a16="http://schemas.microsoft.com/office/drawing/2014/main" id="{1C261535-7123-14CE-3765-C0EE3156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210EC0D-D377-C176-EB26-3141E74F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/>
              <a:t>Dept. of BT &amp; BI - FLS, JSS AHER</a:t>
            </a:r>
          </a:p>
        </p:txBody>
      </p:sp>
      <p:pic>
        <p:nvPicPr>
          <p:cNvPr id="17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0FDBF40B-8968-8D5F-85C0-C93CA17EA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68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964CF91-32ED-4A13-B74D-550E54F9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-22660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6</a:t>
            </a:fld>
            <a:endParaRPr lang="en-I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2ADADB-5B55-C2D2-2D38-7E864EE38D1F}"/>
              </a:ext>
            </a:extLst>
          </p:cNvPr>
          <p:cNvGrpSpPr/>
          <p:nvPr/>
        </p:nvGrpSpPr>
        <p:grpSpPr>
          <a:xfrm>
            <a:off x="211246" y="1330642"/>
            <a:ext cx="4694129" cy="3268541"/>
            <a:chOff x="819149" y="-224632"/>
            <a:chExt cx="4694129" cy="3268829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18F649-484A-1346-0EEC-F4B01E6F36E1}"/>
                </a:ext>
              </a:extLst>
            </p:cNvPr>
            <p:cNvCxnSpPr/>
            <p:nvPr/>
          </p:nvCxnSpPr>
          <p:spPr>
            <a:xfrm>
              <a:off x="1590675" y="885825"/>
              <a:ext cx="2543175" cy="1143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ACEB058-6064-DB6B-24A8-711389C4CAAC}"/>
                </a:ext>
              </a:extLst>
            </p:cNvPr>
            <p:cNvGrpSpPr/>
            <p:nvPr/>
          </p:nvGrpSpPr>
          <p:grpSpPr>
            <a:xfrm>
              <a:off x="819149" y="-224632"/>
              <a:ext cx="4694129" cy="3268829"/>
              <a:chOff x="819149" y="-224632"/>
              <a:chExt cx="4694129" cy="3268829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85E4F7B-BA86-ACF1-8372-72424E8D2DF0}"/>
                  </a:ext>
                </a:extLst>
              </p:cNvPr>
              <p:cNvSpPr/>
              <p:nvPr/>
            </p:nvSpPr>
            <p:spPr>
              <a:xfrm>
                <a:off x="2047875" y="-224632"/>
                <a:ext cx="2046160" cy="764633"/>
              </a:xfrm>
              <a:prstGeom prst="roundRect">
                <a:avLst/>
              </a:prstGeom>
              <a:solidFill>
                <a:srgbClr val="4F81BD">
                  <a:lumMod val="40000"/>
                  <a:lumOff val="60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NCBI  Database (PRJNA1279769)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+mn-cs"/>
                </a:endParaRP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6E51532-4084-D04B-6FBB-6A4D7E6C6149}"/>
                  </a:ext>
                </a:extLst>
              </p:cNvPr>
              <p:cNvSpPr/>
              <p:nvPr/>
            </p:nvSpPr>
            <p:spPr>
              <a:xfrm>
                <a:off x="819149" y="1209675"/>
                <a:ext cx="2038345" cy="360680"/>
              </a:xfrm>
              <a:prstGeom prst="roundRect">
                <a:avLst/>
              </a:prstGeom>
              <a:solidFill>
                <a:srgbClr val="4F81BD">
                  <a:lumMod val="40000"/>
                  <a:lumOff val="60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60 Positive Patients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+mn-cs"/>
                </a:endParaRP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E0D5718-1BFF-D6FD-691F-F73AF449F998}"/>
                  </a:ext>
                </a:extLst>
              </p:cNvPr>
              <p:cNvSpPr/>
              <p:nvPr/>
            </p:nvSpPr>
            <p:spPr>
              <a:xfrm>
                <a:off x="3390900" y="1219200"/>
                <a:ext cx="2122378" cy="360000"/>
              </a:xfrm>
              <a:prstGeom prst="roundRect">
                <a:avLst/>
              </a:prstGeom>
              <a:solidFill>
                <a:srgbClr val="4F81BD">
                  <a:lumMod val="40000"/>
                  <a:lumOff val="60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20 Negative Patients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+mn-cs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469804F-FE2A-A051-4E13-E3C4E7CAFA8B}"/>
                  </a:ext>
                </a:extLst>
              </p:cNvPr>
              <p:cNvSpPr/>
              <p:nvPr/>
            </p:nvSpPr>
            <p:spPr>
              <a:xfrm>
                <a:off x="2000249" y="2352680"/>
                <a:ext cx="1876425" cy="691517"/>
              </a:xfrm>
              <a:prstGeom prst="roundRect">
                <a:avLst/>
              </a:prstGeom>
              <a:solidFill>
                <a:srgbClr val="4F81BD">
                  <a:lumMod val="40000"/>
                  <a:lumOff val="60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Raw </a:t>
                </a:r>
                <a:r>
                  <a:rPr kumimoji="0" lang="en-IN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fastq</a:t>
                </a:r>
                <a:r>
                  <a:rPr kumimoji="0" lang="en-I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F243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+mn-cs"/>
                  </a:rPr>
                  <a:t>  files Download</a:t>
                </a:r>
                <a:endParaRPr kumimoji="0" lang="en-I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+mn-cs"/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472EA18-1EBA-0E11-69B9-4A48B1703400}"/>
                  </a:ext>
                </a:extLst>
              </p:cNvPr>
              <p:cNvCxnSpPr/>
              <p:nvPr/>
            </p:nvCxnSpPr>
            <p:spPr>
              <a:xfrm rot="360000">
                <a:off x="2800350" y="581025"/>
                <a:ext cx="46800" cy="3024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FAB07A8-158F-5F8E-1C3A-5E84E5F28584}"/>
                  </a:ext>
                </a:extLst>
              </p:cNvPr>
              <p:cNvCxnSpPr/>
              <p:nvPr/>
            </p:nvCxnSpPr>
            <p:spPr>
              <a:xfrm rot="480000">
                <a:off x="1581150" y="895350"/>
                <a:ext cx="45720" cy="301625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3BFB4B8-62AF-D7A9-A935-E2444208CA5E}"/>
                  </a:ext>
                </a:extLst>
              </p:cNvPr>
              <p:cNvCxnSpPr/>
              <p:nvPr/>
            </p:nvCxnSpPr>
            <p:spPr>
              <a:xfrm rot="480000">
                <a:off x="4114800" y="895350"/>
                <a:ext cx="45720" cy="301625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2ADB4A7-AF6C-EABB-4B09-7A34F013F63F}"/>
                  </a:ext>
                </a:extLst>
              </p:cNvPr>
              <p:cNvCxnSpPr/>
              <p:nvPr/>
            </p:nvCxnSpPr>
            <p:spPr>
              <a:xfrm>
                <a:off x="1609725" y="1941195"/>
                <a:ext cx="2574000" cy="11430"/>
              </a:xfrm>
              <a:prstGeom prst="line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F80A47C2-46FD-5873-7EED-1C855B292880}"/>
                  </a:ext>
                </a:extLst>
              </p:cNvPr>
              <p:cNvCxnSpPr/>
              <p:nvPr/>
            </p:nvCxnSpPr>
            <p:spPr>
              <a:xfrm rot="540000">
                <a:off x="1580510" y="1602181"/>
                <a:ext cx="68400" cy="3600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13986F3-DAE8-204E-B628-A594973134DD}"/>
                  </a:ext>
                </a:extLst>
              </p:cNvPr>
              <p:cNvCxnSpPr/>
              <p:nvPr/>
            </p:nvCxnSpPr>
            <p:spPr>
              <a:xfrm rot="540000">
                <a:off x="4142487" y="1616161"/>
                <a:ext cx="68400" cy="3600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5ACBFB9-A51E-2FA7-CFEF-1A5DB70DA85F}"/>
                  </a:ext>
                </a:extLst>
              </p:cNvPr>
              <p:cNvCxnSpPr/>
              <p:nvPr/>
            </p:nvCxnSpPr>
            <p:spPr>
              <a:xfrm rot="540000">
                <a:off x="2886075" y="1944263"/>
                <a:ext cx="68400" cy="3708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4F81BD">
                    <a:lumMod val="50000"/>
                  </a:srgbClr>
                </a:solidFill>
                <a:prstDash val="solid"/>
                <a:tailEnd type="triangle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</p:grp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99A058-B196-25A7-5AD0-49158C8A9137}"/>
              </a:ext>
            </a:extLst>
          </p:cNvPr>
          <p:cNvSpPr/>
          <p:nvPr/>
        </p:nvSpPr>
        <p:spPr>
          <a:xfrm>
            <a:off x="1700321" y="5109071"/>
            <a:ext cx="1185753" cy="539750"/>
          </a:xfrm>
          <a:prstGeom prst="roundRect">
            <a:avLst/>
          </a:prstGeom>
          <a:solidFill>
            <a:srgbClr val="4F81BD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err="1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fastp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Tool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9210E95-3680-2970-0FF5-2A4818519899}"/>
              </a:ext>
            </a:extLst>
          </p:cNvPr>
          <p:cNvSpPr/>
          <p:nvPr/>
        </p:nvSpPr>
        <p:spPr>
          <a:xfrm>
            <a:off x="3434181" y="6068901"/>
            <a:ext cx="1175917" cy="657988"/>
          </a:xfrm>
          <a:prstGeom prst="roundRect">
            <a:avLst/>
          </a:prstGeom>
          <a:solidFill>
            <a:srgbClr val="4F81BD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 err="1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FastQC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Tool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FCF1B5-0E9F-A9D2-D3FD-F14EB58983E0}"/>
              </a:ext>
            </a:extLst>
          </p:cNvPr>
          <p:cNvCxnSpPr>
            <a:cxnSpLocks/>
          </p:cNvCxnSpPr>
          <p:nvPr/>
        </p:nvCxnSpPr>
        <p:spPr>
          <a:xfrm rot="600000">
            <a:off x="2263566" y="4678111"/>
            <a:ext cx="63500" cy="37465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5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7B77501-BC1D-0D09-EC14-98A56D314EB1}"/>
              </a:ext>
            </a:extLst>
          </p:cNvPr>
          <p:cNvSpPr/>
          <p:nvPr/>
        </p:nvSpPr>
        <p:spPr>
          <a:xfrm>
            <a:off x="1630473" y="6086550"/>
            <a:ext cx="1289362" cy="630120"/>
          </a:xfrm>
          <a:prstGeom prst="roundRect">
            <a:avLst/>
          </a:prstGeom>
          <a:solidFill>
            <a:srgbClr val="4F81BD">
              <a:lumMod val="40000"/>
              <a:lumOff val="60000"/>
            </a:srgb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Clean </a:t>
            </a:r>
            <a:r>
              <a:rPr kumimoji="0" lang="en-IN" b="0" i="0" u="none" strike="noStrike" kern="0" cap="none" spc="0" normalizeH="0" baseline="0" noProof="0" dirty="0" err="1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fastq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rgbClr val="0F243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 files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62BAA6-BD10-8B63-4F0B-DE9D387F06A3}"/>
              </a:ext>
            </a:extLst>
          </p:cNvPr>
          <p:cNvCxnSpPr/>
          <p:nvPr/>
        </p:nvCxnSpPr>
        <p:spPr>
          <a:xfrm rot="16800000">
            <a:off x="3145258" y="6224487"/>
            <a:ext cx="63500" cy="37465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5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3A9C67-3E85-9F9B-039B-845BD24CE8F3}"/>
              </a:ext>
            </a:extLst>
          </p:cNvPr>
          <p:cNvCxnSpPr>
            <a:cxnSpLocks/>
          </p:cNvCxnSpPr>
          <p:nvPr/>
        </p:nvCxnSpPr>
        <p:spPr>
          <a:xfrm rot="600000">
            <a:off x="2246416" y="5697701"/>
            <a:ext cx="63500" cy="37465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5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594DDBA-867A-525F-8720-715F2C96D143}"/>
              </a:ext>
            </a:extLst>
          </p:cNvPr>
          <p:cNvGrpSpPr/>
          <p:nvPr/>
        </p:nvGrpSpPr>
        <p:grpSpPr>
          <a:xfrm>
            <a:off x="5383925" y="1661358"/>
            <a:ext cx="6564259" cy="3396703"/>
            <a:chOff x="-414998" y="-126086"/>
            <a:chExt cx="6564259" cy="3397098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7AB83C74-31D4-7D6C-C76F-59E9ABC6BE9D}"/>
                </a:ext>
              </a:extLst>
            </p:cNvPr>
            <p:cNvSpPr/>
            <p:nvPr/>
          </p:nvSpPr>
          <p:spPr>
            <a:xfrm>
              <a:off x="-414998" y="1047750"/>
              <a:ext cx="3141380" cy="54000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Homo Sapiens genome (.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fna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)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1BF8A2D7-4A6C-1FC0-7419-08887C5E354C}"/>
                </a:ext>
              </a:extLst>
            </p:cNvPr>
            <p:cNvSpPr/>
            <p:nvPr/>
          </p:nvSpPr>
          <p:spPr>
            <a:xfrm>
              <a:off x="3007882" y="1076325"/>
              <a:ext cx="3141379" cy="539091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Homo Sapiens gene annotation (.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gtf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)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03D5DF15-E781-A46F-3227-C9FA87C8474D}"/>
                </a:ext>
              </a:extLst>
            </p:cNvPr>
            <p:cNvSpPr/>
            <p:nvPr/>
          </p:nvSpPr>
          <p:spPr>
            <a:xfrm>
              <a:off x="1300786" y="2409825"/>
              <a:ext cx="2164607" cy="539999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STAR Indexer</a:t>
              </a:r>
              <a:endPara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2D58A45-DDCB-A19E-E8E2-636AA68A425E}"/>
                </a:ext>
              </a:extLst>
            </p:cNvPr>
            <p:cNvSpPr/>
            <p:nvPr/>
          </p:nvSpPr>
          <p:spPr>
            <a:xfrm>
              <a:off x="4127500" y="2284536"/>
              <a:ext cx="1876424" cy="986476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Homo Sapiens Genome Index Directory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2474F54D-D450-3817-FEC0-ABAB66BFA8DC}"/>
                </a:ext>
              </a:extLst>
            </p:cNvPr>
            <p:cNvSpPr/>
            <p:nvPr/>
          </p:nvSpPr>
          <p:spPr>
            <a:xfrm>
              <a:off x="2038350" y="-126086"/>
              <a:ext cx="1890206" cy="51466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NCBI Database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4BD118D-A9C9-DD8D-C3D1-F12AF5DD52DA}"/>
                </a:ext>
              </a:extLst>
            </p:cNvPr>
            <p:cNvCxnSpPr/>
            <p:nvPr/>
          </p:nvCxnSpPr>
          <p:spPr>
            <a:xfrm>
              <a:off x="1552575" y="733425"/>
              <a:ext cx="2543175" cy="1143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4A0CF0A-F909-23AD-5CBA-D65074AFCF61}"/>
                </a:ext>
              </a:extLst>
            </p:cNvPr>
            <p:cNvCxnSpPr/>
            <p:nvPr/>
          </p:nvCxnSpPr>
          <p:spPr>
            <a:xfrm rot="480000">
              <a:off x="2762250" y="419100"/>
              <a:ext cx="45720" cy="301625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60AD9E2-C246-7BD4-AE04-582FEDA485FF}"/>
                </a:ext>
              </a:extLst>
            </p:cNvPr>
            <p:cNvCxnSpPr/>
            <p:nvPr/>
          </p:nvCxnSpPr>
          <p:spPr>
            <a:xfrm rot="480000">
              <a:off x="1543050" y="733425"/>
              <a:ext cx="45720" cy="301625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CF75A3AE-1ECF-D583-FB99-56507C23E017}"/>
                </a:ext>
              </a:extLst>
            </p:cNvPr>
            <p:cNvCxnSpPr/>
            <p:nvPr/>
          </p:nvCxnSpPr>
          <p:spPr>
            <a:xfrm rot="480000">
              <a:off x="4076700" y="742950"/>
              <a:ext cx="45720" cy="301625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CB170A6-15C9-50D7-DE26-5BECA8839E12}"/>
                </a:ext>
              </a:extLst>
            </p:cNvPr>
            <p:cNvCxnSpPr/>
            <p:nvPr/>
          </p:nvCxnSpPr>
          <p:spPr>
            <a:xfrm>
              <a:off x="1571625" y="1990725"/>
              <a:ext cx="2563200" cy="1143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65EB1D5-FC1D-2DE8-D5AB-6FEE3AB89C15}"/>
                </a:ext>
              </a:extLst>
            </p:cNvPr>
            <p:cNvCxnSpPr/>
            <p:nvPr/>
          </p:nvCxnSpPr>
          <p:spPr>
            <a:xfrm rot="600000">
              <a:off x="1552575" y="162877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24943C7-2117-FFF3-C650-41F766BFD2D3}"/>
                </a:ext>
              </a:extLst>
            </p:cNvPr>
            <p:cNvCxnSpPr/>
            <p:nvPr/>
          </p:nvCxnSpPr>
          <p:spPr>
            <a:xfrm rot="600000">
              <a:off x="4095750" y="164782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0D12360-4FF2-1424-510D-BBCC3CEECB44}"/>
                </a:ext>
              </a:extLst>
            </p:cNvPr>
            <p:cNvCxnSpPr/>
            <p:nvPr/>
          </p:nvCxnSpPr>
          <p:spPr>
            <a:xfrm rot="600000">
              <a:off x="2819400" y="2019300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6A1E036-3FCB-9AA6-2E99-FF8763C8A049}"/>
                </a:ext>
              </a:extLst>
            </p:cNvPr>
            <p:cNvCxnSpPr/>
            <p:nvPr/>
          </p:nvCxnSpPr>
          <p:spPr>
            <a:xfrm rot="16800000">
              <a:off x="3706813" y="2530179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sp>
        <p:nvSpPr>
          <p:cNvPr id="90" name="Date Placeholder 38">
            <a:extLst>
              <a:ext uri="{FF2B5EF4-FFF2-40B4-BE49-F238E27FC236}">
                <a16:creationId xmlns:a16="http://schemas.microsoft.com/office/drawing/2014/main" id="{2E89076B-E921-182E-9FC3-20351EC8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91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D5AA3B89-81A7-21B2-A684-A1EF150EB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2A6A62A-1963-1815-94BF-F6682C3A7C30}"/>
              </a:ext>
            </a:extLst>
          </p:cNvPr>
          <p:cNvSpPr txBox="1"/>
          <p:nvPr/>
        </p:nvSpPr>
        <p:spPr>
          <a:xfrm>
            <a:off x="199000" y="832834"/>
            <a:ext cx="6139542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Step 1: 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Collection and Quality Control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D0AF6A3-123C-EC4C-4880-B35321ABF6B3}"/>
              </a:ext>
            </a:extLst>
          </p:cNvPr>
          <p:cNvSpPr txBox="1"/>
          <p:nvPr/>
        </p:nvSpPr>
        <p:spPr>
          <a:xfrm>
            <a:off x="7551630" y="877279"/>
            <a:ext cx="2881085" cy="417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000">
                <a:latin typeface="Times New Roman"/>
                <a:cs typeface="Times New Roman"/>
              </a:rPr>
              <a:t>Step 2: Genome Indexing</a:t>
            </a:r>
          </a:p>
        </p:txBody>
      </p:sp>
    </p:spTree>
    <p:extLst>
      <p:ext uri="{BB962C8B-B14F-4D97-AF65-F5344CB8AC3E}">
        <p14:creationId xmlns:p14="http://schemas.microsoft.com/office/powerpoint/2010/main" val="243867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7C7A-9A8A-D4B6-5CC3-C5775DDB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90FE13-C60C-0403-B7C4-75E4D6EBCDA7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C5E439C-785F-64E3-57EE-27191E37536E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29411C8-B523-9824-1611-88D22C3E3DCF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664EE8-E54E-7174-71DB-AA85A534EE84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94A96F-23C9-3124-5CD3-3BC53F7775C6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D51317D3-2100-7CF6-7737-3A5B83ECA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7E5464-CA97-73EF-F5AE-F4D63BA344BE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CDE45D-3980-CB99-1771-EC7F83D22CBF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4A9AE2B-B1A3-4D9A-2AD1-CE258BDD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87" y="12524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2C19B-886C-13CC-B0BA-C7E1D1CD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ABDCE5A-F985-6454-59A4-0D0F5CF0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7</a:t>
            </a:fld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842B0E-0584-625F-982C-EE4B94500638}"/>
              </a:ext>
            </a:extLst>
          </p:cNvPr>
          <p:cNvGrpSpPr/>
          <p:nvPr/>
        </p:nvGrpSpPr>
        <p:grpSpPr>
          <a:xfrm>
            <a:off x="438027" y="1813387"/>
            <a:ext cx="4485958" cy="3531416"/>
            <a:chOff x="1377608" y="-114502"/>
            <a:chExt cx="4485958" cy="353185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E1A2392-00B7-DBF5-ADEA-ED79F2F3477F}"/>
                </a:ext>
              </a:extLst>
            </p:cNvPr>
            <p:cNvSpPr/>
            <p:nvPr/>
          </p:nvSpPr>
          <p:spPr>
            <a:xfrm>
              <a:off x="1466850" y="-114502"/>
              <a:ext cx="1165860" cy="719656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Clean 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fastq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files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BB71801-B64E-42C4-4FE5-BF51CFB65291}"/>
                </a:ext>
              </a:extLst>
            </p:cNvPr>
            <p:cNvSpPr/>
            <p:nvPr/>
          </p:nvSpPr>
          <p:spPr>
            <a:xfrm>
              <a:off x="3320391" y="-62542"/>
              <a:ext cx="2543175" cy="667695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Homo Sapiens Genome Index Directory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FF7198F-1D44-1EF7-A221-EB9BAF883332}"/>
                </a:ext>
              </a:extLst>
            </p:cNvPr>
            <p:cNvSpPr/>
            <p:nvPr/>
          </p:nvSpPr>
          <p:spPr>
            <a:xfrm>
              <a:off x="2695574" y="1381125"/>
              <a:ext cx="1758635" cy="36096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STAR Aligner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E4F5054-E198-5F2C-8676-4ABE86558E6C}"/>
                </a:ext>
              </a:extLst>
            </p:cNvPr>
            <p:cNvSpPr/>
            <p:nvPr/>
          </p:nvSpPr>
          <p:spPr>
            <a:xfrm>
              <a:off x="1377608" y="2059142"/>
              <a:ext cx="3867447" cy="39600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SAM (Sequence Alignment Map) files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9154447-1E9E-6E86-8521-E03C17E2C6D3}"/>
                </a:ext>
              </a:extLst>
            </p:cNvPr>
            <p:cNvSpPr/>
            <p:nvPr/>
          </p:nvSpPr>
          <p:spPr>
            <a:xfrm>
              <a:off x="1774250" y="2790707"/>
              <a:ext cx="3042285" cy="626648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Sorted BAM (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BinaryAlignment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Map) files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DBDDCB-F8D6-D9B9-63C1-523805997A20}"/>
                </a:ext>
              </a:extLst>
            </p:cNvPr>
            <p:cNvCxnSpPr/>
            <p:nvPr/>
          </p:nvCxnSpPr>
          <p:spPr>
            <a:xfrm>
              <a:off x="2038350" y="1000125"/>
              <a:ext cx="2543175" cy="1143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BCD0DF7-2F90-2449-1F58-225A8656FAE1}"/>
                </a:ext>
              </a:extLst>
            </p:cNvPr>
            <p:cNvCxnSpPr/>
            <p:nvPr/>
          </p:nvCxnSpPr>
          <p:spPr>
            <a:xfrm rot="600000">
              <a:off x="2019300" y="63817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A51D730-2BFE-A3BC-DE5B-EC1943D238CA}"/>
                </a:ext>
              </a:extLst>
            </p:cNvPr>
            <p:cNvCxnSpPr/>
            <p:nvPr/>
          </p:nvCxnSpPr>
          <p:spPr>
            <a:xfrm rot="600000">
              <a:off x="4552950" y="63817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6E01703-010D-A9F6-B37B-AA388E6A1262}"/>
                </a:ext>
              </a:extLst>
            </p:cNvPr>
            <p:cNvCxnSpPr/>
            <p:nvPr/>
          </p:nvCxnSpPr>
          <p:spPr>
            <a:xfrm rot="600000">
              <a:off x="3276600" y="1009650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F0B2EF5-229F-9CE3-7D44-1C7EACB495DB}"/>
                </a:ext>
              </a:extLst>
            </p:cNvPr>
            <p:cNvCxnSpPr/>
            <p:nvPr/>
          </p:nvCxnSpPr>
          <p:spPr>
            <a:xfrm rot="660000">
              <a:off x="3267200" y="1783526"/>
              <a:ext cx="54864" cy="265176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57F01CE-33CC-9A6B-234F-F86495B38B60}"/>
                </a:ext>
              </a:extLst>
            </p:cNvPr>
            <p:cNvCxnSpPr/>
            <p:nvPr/>
          </p:nvCxnSpPr>
          <p:spPr>
            <a:xfrm rot="660000">
              <a:off x="3272025" y="2490728"/>
              <a:ext cx="54864" cy="265176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B1D44D1-7BD7-F879-278E-BCA94AA5BF5E}"/>
              </a:ext>
            </a:extLst>
          </p:cNvPr>
          <p:cNvGrpSpPr/>
          <p:nvPr/>
        </p:nvGrpSpPr>
        <p:grpSpPr>
          <a:xfrm>
            <a:off x="2316683" y="4672261"/>
            <a:ext cx="4076901" cy="1894233"/>
            <a:chOff x="2295525" y="-52932"/>
            <a:chExt cx="4076901" cy="1894233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048326A8-7B97-E029-508C-88DBF91E9B46}"/>
                </a:ext>
              </a:extLst>
            </p:cNvPr>
            <p:cNvSpPr/>
            <p:nvPr/>
          </p:nvSpPr>
          <p:spPr>
            <a:xfrm>
              <a:off x="4007924" y="-52932"/>
              <a:ext cx="2218714" cy="667612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Homo Sapiens gene annotation (.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gtf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)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02282FA-F5DC-9643-9F84-AC0A93E881FD}"/>
                </a:ext>
              </a:extLst>
            </p:cNvPr>
            <p:cNvSpPr/>
            <p:nvPr/>
          </p:nvSpPr>
          <p:spPr>
            <a:xfrm>
              <a:off x="2482046" y="1400175"/>
              <a:ext cx="2222308" cy="441126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featureCounts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Tool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F44CA34-1874-DA1B-2AD0-CCA8C3095339}"/>
                </a:ext>
              </a:extLst>
            </p:cNvPr>
            <p:cNvCxnSpPr/>
            <p:nvPr/>
          </p:nvCxnSpPr>
          <p:spPr>
            <a:xfrm>
              <a:off x="2314575" y="1009650"/>
              <a:ext cx="2563200" cy="1143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2BCB78F8-C41F-B88D-0AFF-619788A5C829}"/>
                </a:ext>
              </a:extLst>
            </p:cNvPr>
            <p:cNvCxnSpPr/>
            <p:nvPr/>
          </p:nvCxnSpPr>
          <p:spPr>
            <a:xfrm rot="600000">
              <a:off x="2295525" y="647700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0076234-135D-DE11-7E5D-236B64CE50DD}"/>
                </a:ext>
              </a:extLst>
            </p:cNvPr>
            <p:cNvCxnSpPr/>
            <p:nvPr/>
          </p:nvCxnSpPr>
          <p:spPr>
            <a:xfrm rot="600000">
              <a:off x="4838700" y="647700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203133CB-E1A7-7FC3-2B1D-3155ED7CE6B0}"/>
                </a:ext>
              </a:extLst>
            </p:cNvPr>
            <p:cNvCxnSpPr/>
            <p:nvPr/>
          </p:nvCxnSpPr>
          <p:spPr>
            <a:xfrm rot="600000">
              <a:off x="3552825" y="101917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9F0E53AB-0053-CF1B-0D8A-9FB11EFD2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6225" y="1591521"/>
              <a:ext cx="1636201" cy="1143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DC4CCFB-837E-CB7F-EFE3-EDAEFB0B6F4E}"/>
              </a:ext>
            </a:extLst>
          </p:cNvPr>
          <p:cNvGrpSpPr/>
          <p:nvPr/>
        </p:nvGrpSpPr>
        <p:grpSpPr>
          <a:xfrm>
            <a:off x="7063182" y="1715276"/>
            <a:ext cx="3422650" cy="3615338"/>
            <a:chOff x="0" y="-332409"/>
            <a:chExt cx="3422650" cy="3615610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87376592-88D6-9172-E15C-FAEBF8D786E9}"/>
                </a:ext>
              </a:extLst>
            </p:cNvPr>
            <p:cNvSpPr/>
            <p:nvPr/>
          </p:nvSpPr>
          <p:spPr>
            <a:xfrm>
              <a:off x="0" y="-332409"/>
              <a:ext cx="1460500" cy="691819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Gene Count Matrix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66D95DC4-7FCD-54E0-96E9-997C8F9FCF84}"/>
                </a:ext>
              </a:extLst>
            </p:cNvPr>
            <p:cNvSpPr/>
            <p:nvPr/>
          </p:nvSpPr>
          <p:spPr>
            <a:xfrm>
              <a:off x="2066925" y="-332409"/>
              <a:ext cx="1355725" cy="691819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Sample Metadata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15A0D484-EBE5-C918-1BBB-5CC8AE6C3C69}"/>
                </a:ext>
              </a:extLst>
            </p:cNvPr>
            <p:cNvSpPr/>
            <p:nvPr/>
          </p:nvSpPr>
          <p:spPr>
            <a:xfrm>
              <a:off x="669719" y="1152229"/>
              <a:ext cx="2123622" cy="691819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IN" kern="0" dirty="0">
                  <a:solidFill>
                    <a:srgbClr val="0F243E"/>
                  </a:solidFill>
                  <a:latin typeface="Times New Roman" panose="02020603050405020304" pitchFamily="18" charset="0"/>
                  <a:ea typeface="Calibri" panose="020F0502020204030204" pitchFamily="34" charset="0"/>
                </a:rPr>
                <a:t>R Studio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(DESeq2 Package)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388441C7-0BC2-14C3-7042-EBCF540D28A7}"/>
                </a:ext>
              </a:extLst>
            </p:cNvPr>
            <p:cNvSpPr/>
            <p:nvPr/>
          </p:nvSpPr>
          <p:spPr>
            <a:xfrm>
              <a:off x="828675" y="2273927"/>
              <a:ext cx="2123622" cy="1009274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Result Matrix (log2FC, p-value, 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padj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) </a:t>
              </a:r>
              <a:endPara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BFCBE3-0C31-1440-C252-2669EE46E10A}"/>
                </a:ext>
              </a:extLst>
            </p:cNvPr>
            <p:cNvCxnSpPr/>
            <p:nvPr/>
          </p:nvCxnSpPr>
          <p:spPr>
            <a:xfrm>
              <a:off x="704850" y="742950"/>
              <a:ext cx="2033905" cy="15240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F584DA0-148F-4271-2330-A7E39568F18D}"/>
                </a:ext>
              </a:extLst>
            </p:cNvPr>
            <p:cNvCxnSpPr/>
            <p:nvPr/>
          </p:nvCxnSpPr>
          <p:spPr>
            <a:xfrm rot="600000">
              <a:off x="695325" y="39052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23A8FFA-2F9B-11D5-6454-08D1106C2FA9}"/>
                </a:ext>
              </a:extLst>
            </p:cNvPr>
            <p:cNvCxnSpPr/>
            <p:nvPr/>
          </p:nvCxnSpPr>
          <p:spPr>
            <a:xfrm rot="600000">
              <a:off x="2714625" y="39052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82069FAC-E588-638B-81BA-E8FDB2A6F2B0}"/>
                </a:ext>
              </a:extLst>
            </p:cNvPr>
            <p:cNvCxnSpPr/>
            <p:nvPr/>
          </p:nvCxnSpPr>
          <p:spPr>
            <a:xfrm rot="600000">
              <a:off x="1704975" y="75247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1455A5AA-2EC1-3941-34B8-4194FBC4CEA0}"/>
                </a:ext>
              </a:extLst>
            </p:cNvPr>
            <p:cNvCxnSpPr/>
            <p:nvPr/>
          </p:nvCxnSpPr>
          <p:spPr>
            <a:xfrm rot="600000">
              <a:off x="1724025" y="1868104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82EB92E-E622-6D25-C93B-65FD2EE78B9E}"/>
              </a:ext>
            </a:extLst>
          </p:cNvPr>
          <p:cNvCxnSpPr>
            <a:cxnSpLocks/>
          </p:cNvCxnSpPr>
          <p:nvPr/>
        </p:nvCxnSpPr>
        <p:spPr>
          <a:xfrm>
            <a:off x="6374586" y="2105528"/>
            <a:ext cx="27769" cy="4211186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5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A68F195-8C2C-7783-FDB1-C4CA04148017}"/>
              </a:ext>
            </a:extLst>
          </p:cNvPr>
          <p:cNvCxnSpPr>
            <a:cxnSpLocks/>
          </p:cNvCxnSpPr>
          <p:nvPr/>
        </p:nvCxnSpPr>
        <p:spPr>
          <a:xfrm rot="60000" flipV="1">
            <a:off x="6365119" y="2084562"/>
            <a:ext cx="688824" cy="20966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5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6" name="Date Placeholder 38">
            <a:extLst>
              <a:ext uri="{FF2B5EF4-FFF2-40B4-BE49-F238E27FC236}">
                <a16:creationId xmlns:a16="http://schemas.microsoft.com/office/drawing/2014/main" id="{209C0694-7B5F-B87B-792A-2238DDCB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127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303AAD53-A47B-E5E4-C029-672489112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F02A0839-FDED-0B90-B63C-D74F89247D90}"/>
              </a:ext>
            </a:extLst>
          </p:cNvPr>
          <p:cNvSpPr txBox="1"/>
          <p:nvPr/>
        </p:nvSpPr>
        <p:spPr>
          <a:xfrm>
            <a:off x="691260" y="948301"/>
            <a:ext cx="4036950" cy="417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/>
                <a:cs typeface="Times New Roman"/>
              </a:rPr>
              <a:t>Step 3: Alignment and Q</a:t>
            </a:r>
            <a:r>
              <a:rPr lang="en-IN" sz="2000" dirty="0" err="1">
                <a:latin typeface="Times New Roman"/>
                <a:cs typeface="Times New Roman"/>
              </a:rPr>
              <a:t>uantification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D7D6BB4-2302-24B7-B0D0-324F498B09C6}"/>
              </a:ext>
            </a:extLst>
          </p:cNvPr>
          <p:cNvSpPr txBox="1"/>
          <p:nvPr/>
        </p:nvSpPr>
        <p:spPr>
          <a:xfrm>
            <a:off x="5731267" y="939406"/>
            <a:ext cx="6514299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</a:rPr>
              <a:t>Step 4: Normalization and Differential Expression modelling</a:t>
            </a:r>
            <a:endParaRPr lang="en-I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9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7E63-0B94-ED5F-6848-2AD8A29C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305A494-812F-9970-E075-17BE7383207E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EDF22A-C38A-929D-5B04-8DD07002BDED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BBAC7C3-D78A-3769-9CF6-271778221464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3717190-7368-E02B-F5C5-854C66EBD72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3385AD0-F508-9009-E45F-E854452B5E80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F26E7D5D-144B-AFC9-3358-C814C6DA6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073B11-ED0F-F958-256B-242E60708F2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D48496-E087-D525-298F-FE0CC6FBF768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75C1274-7D47-5ACE-83EC-CC3B6816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35" y="97760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2FF4B-F28C-6D58-E419-62290FF2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A5E16D8-37D6-9A2E-C749-2FDEA25C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8</a:t>
            </a:fld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433E67-6BF9-CB77-B814-C002D5AE587D}"/>
              </a:ext>
            </a:extLst>
          </p:cNvPr>
          <p:cNvGrpSpPr/>
          <p:nvPr/>
        </p:nvGrpSpPr>
        <p:grpSpPr>
          <a:xfrm>
            <a:off x="1216358" y="1569076"/>
            <a:ext cx="2489385" cy="4594372"/>
            <a:chOff x="-244182" y="-404583"/>
            <a:chExt cx="2489385" cy="459467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D3FEFA6-1C55-F610-AB46-43FFED26712C}"/>
                </a:ext>
              </a:extLst>
            </p:cNvPr>
            <p:cNvSpPr/>
            <p:nvPr/>
          </p:nvSpPr>
          <p:spPr>
            <a:xfrm>
              <a:off x="85725" y="-404583"/>
              <a:ext cx="1852295" cy="764583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Significant 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DESeq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Genes 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8E3AD38-27A8-CBD2-5E6E-7A35691C4598}"/>
                </a:ext>
              </a:extLst>
            </p:cNvPr>
            <p:cNvSpPr/>
            <p:nvPr/>
          </p:nvSpPr>
          <p:spPr>
            <a:xfrm>
              <a:off x="485775" y="771525"/>
              <a:ext cx="1082675" cy="36000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R Studio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3CFDACE-090A-59E4-358C-E139E2C1C51F}"/>
                </a:ext>
              </a:extLst>
            </p:cNvPr>
            <p:cNvSpPr/>
            <p:nvPr/>
          </p:nvSpPr>
          <p:spPr>
            <a:xfrm>
              <a:off x="-244182" y="1571625"/>
              <a:ext cx="2489385" cy="42672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clusterProfiler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Package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37794FA-37F6-5485-9C97-B5C1EA78B58E}"/>
                </a:ext>
              </a:extLst>
            </p:cNvPr>
            <p:cNvCxnSpPr/>
            <p:nvPr/>
          </p:nvCxnSpPr>
          <p:spPr>
            <a:xfrm rot="600000">
              <a:off x="990600" y="117157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79EF42D-F1DA-D5E1-52D1-78843ACB2294}"/>
                </a:ext>
              </a:extLst>
            </p:cNvPr>
            <p:cNvCxnSpPr/>
            <p:nvPr/>
          </p:nvCxnSpPr>
          <p:spPr>
            <a:xfrm rot="600000">
              <a:off x="981075" y="381000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8A76B15-2866-CCF2-7BC7-EE974DA81B70}"/>
                </a:ext>
              </a:extLst>
            </p:cNvPr>
            <p:cNvSpPr/>
            <p:nvPr/>
          </p:nvSpPr>
          <p:spPr>
            <a:xfrm>
              <a:off x="-113555" y="2313940"/>
              <a:ext cx="2240993" cy="42672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GO Enriched Terms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D60B57F-DDE5-AE79-7BC1-BC8B71426BD1}"/>
                </a:ext>
              </a:extLst>
            </p:cNvPr>
            <p:cNvSpPr/>
            <p:nvPr/>
          </p:nvSpPr>
          <p:spPr>
            <a:xfrm>
              <a:off x="0" y="3190875"/>
              <a:ext cx="2056130" cy="99922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GO Terms related to Dengue and Immune Response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ECF054E-CD1C-90A8-F6D6-3D03FAEC646E}"/>
                </a:ext>
              </a:extLst>
            </p:cNvPr>
            <p:cNvCxnSpPr/>
            <p:nvPr/>
          </p:nvCxnSpPr>
          <p:spPr>
            <a:xfrm rot="600000">
              <a:off x="990600" y="197167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9" name="Text Box 1">
              <a:extLst>
                <a:ext uri="{FF2B5EF4-FFF2-40B4-BE49-F238E27FC236}">
                  <a16:creationId xmlns:a16="http://schemas.microsoft.com/office/drawing/2014/main" id="{91079FBB-06C8-187B-0C0D-30CCCCCBBDAA}"/>
                </a:ext>
              </a:extLst>
            </p:cNvPr>
            <p:cNvSpPr txBox="1"/>
            <p:nvPr/>
          </p:nvSpPr>
          <p:spPr>
            <a:xfrm>
              <a:off x="838200" y="2790825"/>
              <a:ext cx="1211283" cy="4267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</a:rPr>
                <a:t>Filtering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A37445F-F75C-9DD8-2BC8-9345973017C4}"/>
                </a:ext>
              </a:extLst>
            </p:cNvPr>
            <p:cNvCxnSpPr/>
            <p:nvPr/>
          </p:nvCxnSpPr>
          <p:spPr>
            <a:xfrm rot="600000">
              <a:off x="990600" y="2781300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901E209-1345-05D5-C1C3-8C1857D660FE}"/>
              </a:ext>
            </a:extLst>
          </p:cNvPr>
          <p:cNvGrpSpPr/>
          <p:nvPr/>
        </p:nvGrpSpPr>
        <p:grpSpPr>
          <a:xfrm>
            <a:off x="8215409" y="1240215"/>
            <a:ext cx="2436763" cy="4919836"/>
            <a:chOff x="-208652" y="-359025"/>
            <a:chExt cx="2437351" cy="492016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757640A-E966-F70B-87C5-A6B9E099E01F}"/>
                </a:ext>
              </a:extLst>
            </p:cNvPr>
            <p:cNvSpPr/>
            <p:nvPr/>
          </p:nvSpPr>
          <p:spPr>
            <a:xfrm>
              <a:off x="85725" y="-359025"/>
              <a:ext cx="1852295" cy="719025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Significant </a:t>
              </a: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DESeq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Genes 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93182B8-5445-8E61-8416-3765CE9D15D9}"/>
                </a:ext>
              </a:extLst>
            </p:cNvPr>
            <p:cNvSpPr/>
            <p:nvPr/>
          </p:nvSpPr>
          <p:spPr>
            <a:xfrm>
              <a:off x="485775" y="771525"/>
              <a:ext cx="1082675" cy="360000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R Studio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1BFFEA5-D04E-52C5-5930-19B137CE028F}"/>
                </a:ext>
              </a:extLst>
            </p:cNvPr>
            <p:cNvSpPr/>
            <p:nvPr/>
          </p:nvSpPr>
          <p:spPr>
            <a:xfrm>
              <a:off x="-208652" y="1571625"/>
              <a:ext cx="2437351" cy="436553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clusterProfiler</a:t>
              </a: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 Package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8538F488-CBED-06ED-FE6F-0E139B84B324}"/>
                </a:ext>
              </a:extLst>
            </p:cNvPr>
            <p:cNvCxnSpPr/>
            <p:nvPr/>
          </p:nvCxnSpPr>
          <p:spPr>
            <a:xfrm rot="600000">
              <a:off x="990600" y="1171575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B31CF7A-29FC-1DF2-9E57-97950CE53F11}"/>
                </a:ext>
              </a:extLst>
            </p:cNvPr>
            <p:cNvCxnSpPr/>
            <p:nvPr/>
          </p:nvCxnSpPr>
          <p:spPr>
            <a:xfrm rot="600000">
              <a:off x="981075" y="381000"/>
              <a:ext cx="64008" cy="374904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37F2CB1-C09C-3C8D-6978-107AFF7E42B9}"/>
                </a:ext>
              </a:extLst>
            </p:cNvPr>
            <p:cNvSpPr/>
            <p:nvPr/>
          </p:nvSpPr>
          <p:spPr>
            <a:xfrm>
              <a:off x="62263" y="2381090"/>
              <a:ext cx="1939973" cy="653663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KEGG Enriched Pathways</a:t>
              </a:r>
              <a:endPara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74E6527-047B-2554-3743-2DFB63CE6679}"/>
                </a:ext>
              </a:extLst>
            </p:cNvPr>
            <p:cNvSpPr/>
            <p:nvPr/>
          </p:nvSpPr>
          <p:spPr>
            <a:xfrm>
              <a:off x="-163772" y="3440271"/>
              <a:ext cx="2383572" cy="1120869"/>
            </a:xfrm>
            <a:prstGeom prst="roundRect">
              <a:avLst/>
            </a:prstGeom>
            <a:solidFill>
              <a:srgbClr val="4F81BD">
                <a:lumMod val="40000"/>
                <a:lumOff val="60000"/>
              </a:srgb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rPr>
                <a:t>KEGG Pathways related to Dengue and Immune Response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74AA2579-BD7E-5100-CF8B-3B92A546532F}"/>
                </a:ext>
              </a:extLst>
            </p:cNvPr>
            <p:cNvCxnSpPr/>
            <p:nvPr/>
          </p:nvCxnSpPr>
          <p:spPr>
            <a:xfrm rot="600000">
              <a:off x="990600" y="1971675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67" name="Text Box 1">
              <a:extLst>
                <a:ext uri="{FF2B5EF4-FFF2-40B4-BE49-F238E27FC236}">
                  <a16:creationId xmlns:a16="http://schemas.microsoft.com/office/drawing/2014/main" id="{BB24B2EF-6FD7-51AA-B5D5-6299E10FF3A4}"/>
                </a:ext>
              </a:extLst>
            </p:cNvPr>
            <p:cNvSpPr txBox="1"/>
            <p:nvPr/>
          </p:nvSpPr>
          <p:spPr>
            <a:xfrm>
              <a:off x="909468" y="3016470"/>
              <a:ext cx="1211283" cy="4267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b="0" i="0" u="none" strike="noStrike" kern="0" cap="none" spc="0" normalizeH="0" baseline="0" noProof="0" dirty="0">
                  <a:ln>
                    <a:noFill/>
                  </a:ln>
                  <a:solidFill>
                    <a:srgbClr val="0F243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</a:rPr>
                <a:t>Filtering</a:t>
              </a:r>
              <a:endPara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AE698D2-A0EA-90FC-CA87-B23121ABF015}"/>
                </a:ext>
              </a:extLst>
            </p:cNvPr>
            <p:cNvCxnSpPr/>
            <p:nvPr/>
          </p:nvCxnSpPr>
          <p:spPr>
            <a:xfrm rot="600000">
              <a:off x="1002478" y="3078203"/>
              <a:ext cx="63500" cy="374650"/>
            </a:xfrm>
            <a:prstGeom prst="straightConnector1">
              <a:avLst/>
            </a:prstGeom>
            <a:noFill/>
            <a:ln w="25400" cap="flat" cmpd="sng" algn="ctr">
              <a:solidFill>
                <a:srgbClr val="4F81BD">
                  <a:lumMod val="50000"/>
                </a:srgbClr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pic>
        <p:nvPicPr>
          <p:cNvPr id="69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2276E6E0-8DB3-12B3-25E7-F7CA1B79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E33AD30-FBF1-5D30-975D-9CF869A7C3C3}"/>
              </a:ext>
            </a:extLst>
          </p:cNvPr>
          <p:cNvSpPr txBox="1"/>
          <p:nvPr/>
        </p:nvSpPr>
        <p:spPr>
          <a:xfrm>
            <a:off x="4163784" y="1025041"/>
            <a:ext cx="3864429" cy="84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</a:rPr>
              <a:t>Step 5: GO and Pathway Analysis</a:t>
            </a:r>
            <a:endParaRPr lang="en-IN" sz="2000" dirty="0">
              <a:latin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0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964CF91-32ED-4A13-B74D-550E54F9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253" y="-16882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9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058EC5B6-ABBD-604F-4B24-5A42AC80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89662835-5850-5DE8-DAA1-9BC297351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560F90-7300-6864-5DFA-EF518C838E7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6" t="6072" r="-406" b="-248"/>
          <a:stretch>
            <a:fillRect/>
          </a:stretch>
        </p:blipFill>
        <p:spPr bwMode="auto">
          <a:xfrm>
            <a:off x="199619" y="832880"/>
            <a:ext cx="10822696" cy="55144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CDC530B-A231-513B-3576-5F0F718DBA59}"/>
              </a:ext>
            </a:extLst>
          </p:cNvPr>
          <p:cNvSpPr txBox="1">
            <a:spLocks/>
          </p:cNvSpPr>
          <p:nvPr/>
        </p:nvSpPr>
        <p:spPr>
          <a:xfrm>
            <a:off x="9691919" y="2816508"/>
            <a:ext cx="2310239" cy="1246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Volcano Plot of Differentially Expressed Genes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5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964CF91-32ED-4A13-B74D-550E54F9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942" y="-14186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A10324-8C60-BF4D-41C9-68509C48C9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5" r="-604" b="556"/>
          <a:stretch>
            <a:fillRect/>
          </a:stretch>
        </p:blipFill>
        <p:spPr bwMode="auto">
          <a:xfrm>
            <a:off x="120010" y="1121302"/>
            <a:ext cx="11569209" cy="52356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1ECD7126-3E95-62C8-EB95-D1211805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F387A029-A702-8977-5E5A-11D38D537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D89E667-096D-60FC-1DBC-93A5632077A5}"/>
              </a:ext>
            </a:extLst>
          </p:cNvPr>
          <p:cNvSpPr txBox="1">
            <a:spLocks/>
          </p:cNvSpPr>
          <p:nvPr/>
        </p:nvSpPr>
        <p:spPr>
          <a:xfrm>
            <a:off x="10363847" y="2842808"/>
            <a:ext cx="1645568" cy="135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Heatmap of Top Differentially Expressed Genes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5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CDD2-16CD-1126-2B98-FBE5C39D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E10B50-2F4F-12B7-D00B-183CBA2F59DC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280BAAD-EE65-30B1-970B-5BD560C40016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A7BECC1-52B7-F780-6E4B-3BD8390A1DF7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9F61C4-717A-F798-E576-B2A5FB958B8B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29EC5AF-4C0E-B15B-4EC8-A523CCCE0220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0BB7FE6-C2F9-AB4E-DC11-3F28A55B6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BF1DAC-121E-76AE-002F-9C123F219C3E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13251E-3997-98AE-740D-16FE5F652F2C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2CA3CEFA-267A-BDBE-DD8D-7D3F87E5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87" y="86890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401A0-9946-0500-82A8-9BBD5DE5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60F95A-809E-8F83-1D5D-537ED245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11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0EEB21A5-B31F-CCDB-1E71-109FA3DC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BD7A4BB3-3160-6997-53EA-007BDBB95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18BE9-B6D6-3F74-F2EA-36DB99C6CC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700" y="1236560"/>
            <a:ext cx="5612130" cy="37992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65D965-DF87-48BE-2AED-4F88811D1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62" y="1177792"/>
            <a:ext cx="5732145" cy="411416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395D5A2-59E6-7342-91ED-3E01C257F08D}"/>
              </a:ext>
            </a:extLst>
          </p:cNvPr>
          <p:cNvSpPr txBox="1">
            <a:spLocks/>
          </p:cNvSpPr>
          <p:nvPr/>
        </p:nvSpPr>
        <p:spPr>
          <a:xfrm>
            <a:off x="1612618" y="5399581"/>
            <a:ext cx="2901632" cy="490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Dot Plot of Top GO terms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968282C-A777-636E-6EE5-BFFA024AB1EE}"/>
              </a:ext>
            </a:extLst>
          </p:cNvPr>
          <p:cNvSpPr txBox="1">
            <a:spLocks/>
          </p:cNvSpPr>
          <p:nvPr/>
        </p:nvSpPr>
        <p:spPr>
          <a:xfrm>
            <a:off x="7582126" y="5436466"/>
            <a:ext cx="3693622" cy="4163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Dot Plot of Top KEGG Pathways 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18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964CF91-32ED-4A13-B74D-550E54F9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51" y="2873820"/>
            <a:ext cx="2155862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Summary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12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BDBDD09B-22A3-13AA-601D-029013BF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E40DA3E6-6C9F-ED41-A7BA-DB384B64B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7FF12C-AC17-D660-6463-DDABC340E4DD}"/>
              </a:ext>
            </a:extLst>
          </p:cNvPr>
          <p:cNvSpPr txBox="1"/>
          <p:nvPr/>
        </p:nvSpPr>
        <p:spPr>
          <a:xfrm>
            <a:off x="3084146" y="451091"/>
            <a:ext cx="8631503" cy="620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Upregulated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IGHG1, IGLV3-21, IGLC2, JCHAIN: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antibody production (humoral immunity)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IFI27: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Activated antiviral (interferon) 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MKI67, MYBL2: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immune cell proliferation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Downregulated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LAMA5: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cell adhesion/ECM organization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Altered cell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vascular function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GNA11, CAMSAP3: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Impaired cellular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structure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GO Terms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Humoral immune 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activation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coagulation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Vascular permeability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KEGG Pathways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&amp; coagulation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adhesion molecules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ECM–receptor interaction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Integrin &amp; Calcium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  <a:buNone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430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7362-D624-5FE7-DDD7-E4D1EF80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EC210E4-F4A2-7FF3-9B14-2AA33561AE60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93BE09-8500-A0C1-CD39-C55713C70453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4F9AA1E-58ED-B67D-C05D-6A44C2726F28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400D3B-3687-30D0-8F8A-DE687DCA40A4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DB547A-AD8C-1C8A-C80A-B03F385B730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2DF34962-E807-D1D4-765F-9AD0DB86D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58300B-1839-96D5-9172-FEFCF8E5336E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C845A-EFB7-CDB7-8639-A6C670D52EB6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74E6EB6C-3D48-CA41-9EAE-CA1DD9B62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87" y="159717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85279-74FC-AD0C-7F10-DD7D4654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CB2CFE1-84E3-539F-7BBA-56D9CFB2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13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C33EF7FF-76DC-ADB1-CA26-AFFCF469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6D3E545B-09D8-0F9A-3859-FD9237EE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D2A1D4-9111-B618-663B-E7501041E66F}"/>
              </a:ext>
            </a:extLst>
          </p:cNvPr>
          <p:cNvSpPr txBox="1"/>
          <p:nvPr/>
        </p:nvSpPr>
        <p:spPr>
          <a:xfrm>
            <a:off x="650363" y="1382769"/>
            <a:ext cx="11617992" cy="3744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Biomarkers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Antiviral: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IFI27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Humoral immunity: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IGHG1, IGLV3-21, IGLC2, JCHAIN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proliferation: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MKI67, MYBL2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Vascular function: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LAMA5, JAG2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based on significant differential expression and functional enrichment.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causes major transcriptomic changes.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pathways affected: immunity, antiviral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coagulation, and vascular function.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IFI27, IGHG1, IGLV3-21, IGLC2, JCHAIN, MKI67, MYBL2, LAMA5, and JAG2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promising candidate biomarkers for future validation.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  <a:buNone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0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4CF1-F661-DA60-5BC6-8B024C58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4817252-3766-DDB9-8248-8513341CFB28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5509D8C-DE5B-2944-DDAD-9836FF903E81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69778E2-5803-94CD-50FE-3E4D19C85BEE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B09CF63-46ED-5DE6-A39D-2F6000033D22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B7D271-FB06-0841-9BD1-0589AA60C5A9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4C48BDE-D855-F8AB-FB10-9F4D072F7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32D469-B0FE-4DF3-EC24-9FCF56377A60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FEE619-736C-7156-7E87-0BD8DE85F73C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176CBF7E-C475-45CD-8E00-787F1F80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252" y="202435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 Shiny Web App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073EA-B5D1-6289-65B6-14074069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942FAE9-D075-990F-C96A-752356E1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14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1481DECC-016D-BD89-FCF4-8CA0453F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CC93494F-C713-7569-59A7-282D7A874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8618356B-F87D-AA67-6239-4E92EEDA3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48" y="1260656"/>
            <a:ext cx="10309200" cy="45810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D0705D-C28C-6369-094A-B40DE715BAF7}"/>
              </a:ext>
            </a:extLst>
          </p:cNvPr>
          <p:cNvSpPr txBox="1"/>
          <p:nvPr/>
        </p:nvSpPr>
        <p:spPr>
          <a:xfrm>
            <a:off x="3386265" y="594348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6"/>
              </a:rPr>
              <a:t>https://varshas.shinyapps.io/Denguscope/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91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B964CF91-32ED-4A13-B74D-550E54F9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87" y="103977"/>
            <a:ext cx="10812624" cy="111035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Acknowledgement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BT &amp; BI - FLS, JSS AHER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15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65FFA938-E8EA-F673-6E15-3ACEA3D9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9629AD1B-C3BA-CD6D-D8A4-B8263B788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13447BD-A8EC-C7BE-01DE-E7416F872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89" y="942630"/>
            <a:ext cx="25717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AFA87-CF5B-7282-BFDD-4D53175CA7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857" t="3850" r="6282" b="3704"/>
          <a:stretch>
            <a:fillRect/>
          </a:stretch>
        </p:blipFill>
        <p:spPr>
          <a:xfrm>
            <a:off x="5023320" y="3158299"/>
            <a:ext cx="2129204" cy="2977842"/>
          </a:xfrm>
          <a:prstGeom prst="rect">
            <a:avLst/>
          </a:prstGeom>
        </p:spPr>
      </p:pic>
      <p:pic>
        <p:nvPicPr>
          <p:cNvPr id="1034" name="Picture 10" descr=" ">
            <a:extLst>
              <a:ext uri="{FF2B5EF4-FFF2-40B4-BE49-F238E27FC236}">
                <a16:creationId xmlns:a16="http://schemas.microsoft.com/office/drawing/2014/main" id="{50CBA315-5304-745B-A1E1-8631AFBDB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238" y="3645780"/>
            <a:ext cx="1675193" cy="167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epartment of Data Science and Engineering">
            <a:extLst>
              <a:ext uri="{FF2B5EF4-FFF2-40B4-BE49-F238E27FC236}">
                <a16:creationId xmlns:a16="http://schemas.microsoft.com/office/drawing/2014/main" id="{716E891B-C787-C0F7-8280-7E30D9D7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63" y="1076840"/>
            <a:ext cx="1582858" cy="158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C639D54-6CAF-73A9-9587-14CAB7B1A5E5}"/>
              </a:ext>
            </a:extLst>
          </p:cNvPr>
          <p:cNvSpPr txBox="1">
            <a:spLocks/>
          </p:cNvSpPr>
          <p:nvPr/>
        </p:nvSpPr>
        <p:spPr>
          <a:xfrm>
            <a:off x="4650198" y="2683505"/>
            <a:ext cx="2743200" cy="4987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Prof. Himanshu Kumar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8BFF739-6B22-E402-7BC2-911AF3E71625}"/>
              </a:ext>
            </a:extLst>
          </p:cNvPr>
          <p:cNvSpPr txBox="1">
            <a:spLocks/>
          </p:cNvSpPr>
          <p:nvPr/>
        </p:nvSpPr>
        <p:spPr>
          <a:xfrm>
            <a:off x="4012888" y="6045564"/>
            <a:ext cx="4017819" cy="4933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Pandikannan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Krishnamoorthy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42A8D40-3096-6918-55DC-0038AFD570B0}"/>
              </a:ext>
            </a:extLst>
          </p:cNvPr>
          <p:cNvSpPr txBox="1">
            <a:spLocks/>
          </p:cNvSpPr>
          <p:nvPr/>
        </p:nvSpPr>
        <p:spPr>
          <a:xfrm>
            <a:off x="222159" y="5424142"/>
            <a:ext cx="3295666" cy="1064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Laboratory of Immunology and Infectious Disease Biology</a:t>
            </a:r>
          </a:p>
          <a:p>
            <a:pPr algn="ctr"/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A889ECB-F245-1F6C-493D-A3859EDCE667}"/>
              </a:ext>
            </a:extLst>
          </p:cNvPr>
          <p:cNvSpPr txBox="1">
            <a:spLocks/>
          </p:cNvSpPr>
          <p:nvPr/>
        </p:nvSpPr>
        <p:spPr>
          <a:xfrm>
            <a:off x="1147486" y="2657589"/>
            <a:ext cx="1652849" cy="628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IISER Bhopal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A612D99-783E-F112-DF2F-F469BE444F0A}"/>
              </a:ext>
            </a:extLst>
          </p:cNvPr>
          <p:cNvSpPr txBox="1">
            <a:spLocks/>
          </p:cNvSpPr>
          <p:nvPr/>
        </p:nvSpPr>
        <p:spPr>
          <a:xfrm>
            <a:off x="8576091" y="4209597"/>
            <a:ext cx="2743200" cy="1110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huge thanks to all!!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9C1578-680A-B0ED-DFA3-96564E8A451B}"/>
              </a:ext>
            </a:extLst>
          </p:cNvPr>
          <p:cNvSpPr txBox="1">
            <a:spLocks/>
          </p:cNvSpPr>
          <p:nvPr/>
        </p:nvSpPr>
        <p:spPr>
          <a:xfrm>
            <a:off x="8249518" y="1575253"/>
            <a:ext cx="3251200" cy="11176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Cambria"/>
                <a:ea typeface="Cambria"/>
                <a:cs typeface="Times New Roman"/>
              </a:rPr>
              <a:t>Dr. Kiran Kumar M N </a:t>
            </a:r>
            <a:r>
              <a:rPr lang="en-US" sz="2400">
                <a:latin typeface="Cambria"/>
                <a:ea typeface="Cambria"/>
                <a:cs typeface="Times New Roman"/>
              </a:rPr>
              <a:t>Guide</a:t>
            </a:r>
            <a:r>
              <a:rPr lang="en-US" sz="2400" dirty="0">
                <a:latin typeface="Cambria"/>
                <a:ea typeface="Cambria"/>
                <a:cs typeface="Times New Roman"/>
              </a:rPr>
              <a:t>  </a:t>
            </a:r>
            <a:endParaRPr lang="en-US" sz="2400" dirty="0" err="1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7216D96-8155-46C7-893A-6213F9E39245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3E2E4D-9DBF-4783-9244-466AA8CFCFC4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C339AC-33F0-432F-9D24-D3798378AA6B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B192F0-7E53-47F5-B288-E665FA4BA8B0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6FAAD0-E2DB-4EBA-ACD4-F81A40C049B2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2216557-FA5B-4F21-A337-F1B68EB7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2B812BF-22AD-4CC8-BF11-D8B16EE30D0A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74D946-96FE-45F9-BDDE-E68179707763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08CE6-979A-4ABA-BF9B-CF696EE8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5182D7D-1E0B-4069-AD6C-0C3A931B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16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4E00E0C4-0166-5329-36DC-8B9D7668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BCD37C2F-4B04-63AA-A245-686DFD4F2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748" y="5536868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DC1955-2179-79A1-80C1-82F7DE5D2669}"/>
              </a:ext>
            </a:extLst>
          </p:cNvPr>
          <p:cNvSpPr txBox="1"/>
          <p:nvPr/>
        </p:nvSpPr>
        <p:spPr>
          <a:xfrm>
            <a:off x="381424" y="1173158"/>
            <a:ext cx="11429150" cy="5269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Dhole P, Zaidi A, Nariya HK, Sinha S, Jinesh S, Srivastava S. Host immune response to dengue virus infection: Friend or foe? </a:t>
            </a:r>
            <a:r>
              <a:rPr lang="en-IN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Immuno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2024;4:549-577. doi:10.3390/immuno4040033. 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Krishnamoorthy P, Raj AS, Kumar P, Das N, Kumar H. Host and viral non-coding RNAs in dengue pathogenesis.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 Med </a:t>
            </a:r>
            <a:r>
              <a:rPr lang="en-IN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Virol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2022;32(6):e2360. doi:10.1002/rmv.2360. 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Paz-Bailey G, Adams LE, Deen J, Anderson KB,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Katzelnick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LC. Dengue.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Lancet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2024;403(10427):667-682. doi:10.1016/S0140-6736(23)02592-4. 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Stark R, Grzelak M, Hadfield J. RNA sequencing: The teenage years.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 Rev Genet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2019;20:631-656. doi:10.1038/s41576-019-0150-2. </a:t>
            </a: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Falconi-Agapito F, Kerkhof K, Merino X,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Bakokimi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D, Torres F, Van </a:t>
            </a:r>
            <a:r>
              <a:rPr lang="en-I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Esbroeck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M, et al. Peptide biomarkers for the diagnosis of dengue infection. </a:t>
            </a:r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Front Immunol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2022;13:793882. doi:10.3389/fimmu.2022.793882. 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Thach TQ, Eisa HG, Ben </a:t>
            </a:r>
            <a:r>
              <a:rPr lang="en-I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Hmeda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A, Faraj H, Thuan TM, Abdelrahman MM, et al. Predictive markers for the early prognosis of dengue severity: A systematic review and meta-analysis. </a:t>
            </a:r>
            <a:r>
              <a:rPr lang="en-IN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PLoS</a:t>
            </a:r>
            <a:r>
              <a:rPr lang="en-IN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Negl</a:t>
            </a:r>
            <a:r>
              <a:rPr lang="en-IN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Trop Dis</a:t>
            </a:r>
            <a: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2021;15(10):e0009808. doi:10.1371/journal.pntd.0009808. </a:t>
            </a:r>
            <a:endParaRPr lang="en-IN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BECBD01-A97B-D865-190C-2E002ECBD812}"/>
              </a:ext>
            </a:extLst>
          </p:cNvPr>
          <p:cNvSpPr txBox="1">
            <a:spLocks/>
          </p:cNvSpPr>
          <p:nvPr/>
        </p:nvSpPr>
        <p:spPr>
          <a:xfrm>
            <a:off x="650363" y="159717"/>
            <a:ext cx="10812624" cy="1110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FFEF0CD-9223-9E3C-0F75-144F00B55697}"/>
              </a:ext>
            </a:extLst>
          </p:cNvPr>
          <p:cNvSpPr txBox="1">
            <a:spLocks/>
          </p:cNvSpPr>
          <p:nvPr/>
        </p:nvSpPr>
        <p:spPr>
          <a:xfrm>
            <a:off x="7978195" y="4659561"/>
            <a:ext cx="10812624" cy="1110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44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8432-BD4C-79D7-5B81-17D0C36C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C446C0D-7A59-8E9F-3BE4-099E91BBF512}"/>
              </a:ext>
            </a:extLst>
          </p:cNvPr>
          <p:cNvGrpSpPr/>
          <p:nvPr/>
        </p:nvGrpSpPr>
        <p:grpSpPr>
          <a:xfrm>
            <a:off x="0" y="-4015"/>
            <a:ext cx="12191999" cy="6879160"/>
            <a:chOff x="0" y="-4015"/>
            <a:chExt cx="12191999" cy="68791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D593679-09EA-33D5-B5DE-F232A53C7D3D}"/>
                </a:ext>
              </a:extLst>
            </p:cNvPr>
            <p:cNvGrpSpPr/>
            <p:nvPr/>
          </p:nvGrpSpPr>
          <p:grpSpPr>
            <a:xfrm>
              <a:off x="0" y="6783977"/>
              <a:ext cx="12191999" cy="91168"/>
              <a:chOff x="1" y="6096362"/>
              <a:chExt cx="9224209" cy="19104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39C6DA-2EC3-1667-C1BD-DD493223F9B7}"/>
                  </a:ext>
                </a:extLst>
              </p:cNvPr>
              <p:cNvSpPr/>
              <p:nvPr/>
            </p:nvSpPr>
            <p:spPr>
              <a:xfrm>
                <a:off x="3416968" y="6096362"/>
                <a:ext cx="2903621" cy="191046"/>
              </a:xfrm>
              <a:prstGeom prst="rect">
                <a:avLst/>
              </a:prstGeom>
              <a:solidFill>
                <a:srgbClr val="E35F1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0D9351D-918D-A6B0-EE71-8A6F01F03102}"/>
                  </a:ext>
                </a:extLst>
              </p:cNvPr>
              <p:cNvSpPr/>
              <p:nvPr/>
            </p:nvSpPr>
            <p:spPr>
              <a:xfrm>
                <a:off x="6320589" y="6096362"/>
                <a:ext cx="2903621" cy="191046"/>
              </a:xfrm>
              <a:prstGeom prst="rect">
                <a:avLst/>
              </a:prstGeom>
              <a:solidFill>
                <a:srgbClr val="FC9B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DCB4E28-E73C-BE05-0128-38BFE4E89120}"/>
                  </a:ext>
                </a:extLst>
              </p:cNvPr>
              <p:cNvSpPr/>
              <p:nvPr/>
            </p:nvSpPr>
            <p:spPr>
              <a:xfrm>
                <a:off x="1" y="6096362"/>
                <a:ext cx="3416968" cy="191046"/>
              </a:xfrm>
              <a:prstGeom prst="rect">
                <a:avLst/>
              </a:prstGeom>
              <a:solidFill>
                <a:srgbClr val="0244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01FAC965-5D56-91C5-D1ED-2A4E789D0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" y="159717"/>
              <a:ext cx="1285175" cy="60490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2B9E86-0D44-BC91-6582-E9DFBB2D2698}"/>
                </a:ext>
              </a:extLst>
            </p:cNvPr>
            <p:cNvSpPr/>
            <p:nvPr/>
          </p:nvSpPr>
          <p:spPr>
            <a:xfrm>
              <a:off x="0" y="7656"/>
              <a:ext cx="12191999" cy="192642"/>
            </a:xfrm>
            <a:prstGeom prst="rect">
              <a:avLst/>
            </a:prstGeom>
            <a:solidFill>
              <a:srgbClr val="0244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50B1CB-BCE0-1FC0-B4AE-942AB5FD1EE5}"/>
                </a:ext>
              </a:extLst>
            </p:cNvPr>
            <p:cNvSpPr/>
            <p:nvPr/>
          </p:nvSpPr>
          <p:spPr>
            <a:xfrm>
              <a:off x="0" y="-4015"/>
              <a:ext cx="12191999" cy="152061"/>
            </a:xfrm>
            <a:prstGeom prst="rect">
              <a:avLst/>
            </a:prstGeom>
            <a:solidFill>
              <a:srgbClr val="E35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DCF0-3A83-B44C-7539-1C13F87B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BT &amp; BI - FLS, JSS AHER</a:t>
            </a:r>
            <a:endParaRPr lang="en-IN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D7E3A95-B3DE-51EB-478C-B730402B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A275-00CC-4D16-8799-179AC35DB989}" type="slidenum">
              <a:rPr lang="en-IN" smtClean="0"/>
              <a:t>17</a:t>
            </a:fld>
            <a:endParaRPr lang="en-IN"/>
          </a:p>
        </p:txBody>
      </p:sp>
      <p:sp>
        <p:nvSpPr>
          <p:cNvPr id="2" name="Date Placeholder 38">
            <a:extLst>
              <a:ext uri="{FF2B5EF4-FFF2-40B4-BE49-F238E27FC236}">
                <a16:creationId xmlns:a16="http://schemas.microsoft.com/office/drawing/2014/main" id="{37176902-7B95-70BA-CF5A-E4468284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05985"/>
            <a:ext cx="1037253" cy="365125"/>
          </a:xfrm>
        </p:spPr>
        <p:txBody>
          <a:bodyPr/>
          <a:lstStyle/>
          <a:p>
            <a:r>
              <a:rPr lang="en-US" dirty="0"/>
              <a:t>20-07-2026</a:t>
            </a:r>
            <a:endParaRPr lang="en-IN" dirty="0"/>
          </a:p>
        </p:txBody>
      </p:sp>
      <p:pic>
        <p:nvPicPr>
          <p:cNvPr id="3" name="Picture 2" descr="Mosquito Cartoon Vector Art, Icons, and Graphics for Free Download">
            <a:extLst>
              <a:ext uri="{FF2B5EF4-FFF2-40B4-BE49-F238E27FC236}">
                <a16:creationId xmlns:a16="http://schemas.microsoft.com/office/drawing/2014/main" id="{131F0C93-B502-999E-06CF-8222EE241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00" b="94857" l="3422" r="96578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435" y="3579417"/>
            <a:ext cx="842197" cy="11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3EC623A-F771-447A-A5FD-15F8D141B10A}"/>
              </a:ext>
            </a:extLst>
          </p:cNvPr>
          <p:cNvSpPr txBox="1">
            <a:spLocks/>
          </p:cNvSpPr>
          <p:nvPr/>
        </p:nvSpPr>
        <p:spPr>
          <a:xfrm>
            <a:off x="884221" y="2747962"/>
            <a:ext cx="10812624" cy="1110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4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1005</Words>
  <Application>Microsoft Office PowerPoint</Application>
  <PresentationFormat>Widescreen</PresentationFormat>
  <Paragraphs>168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Yu Gothic</vt:lpstr>
      <vt:lpstr>Aptos</vt:lpstr>
      <vt:lpstr>Aptos Display</vt:lpstr>
      <vt:lpstr>Arial</vt:lpstr>
      <vt:lpstr>Calibri</vt:lpstr>
      <vt:lpstr>Cambria</vt:lpstr>
      <vt:lpstr>Symbol</vt:lpstr>
      <vt:lpstr>Times New Roman</vt:lpstr>
      <vt:lpstr>Office Theme</vt:lpstr>
      <vt:lpstr>DenguScope: Identification of Transcriptomic Biomarkers for Dengue Infection </vt:lpstr>
      <vt:lpstr>Dengue Infection</vt:lpstr>
      <vt:lpstr>Why Transcriptomic Biomarkers?</vt:lpstr>
      <vt:lpstr>PowerPoint Presentation</vt:lpstr>
      <vt:lpstr>Objectives</vt:lpstr>
      <vt:lpstr>Methodology</vt:lpstr>
      <vt:lpstr>Methodology</vt:lpstr>
      <vt:lpstr>Methodology</vt:lpstr>
      <vt:lpstr>Results</vt:lpstr>
      <vt:lpstr>Results</vt:lpstr>
      <vt:lpstr>Results</vt:lpstr>
      <vt:lpstr>Summary</vt:lpstr>
      <vt:lpstr>Conclusion</vt:lpstr>
      <vt:lpstr>R Shiny Web App</vt:lpstr>
      <vt:lpstr>Acknowledgement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kumar</dc:creator>
  <cp:lastModifiedBy>Varsha S</cp:lastModifiedBy>
  <cp:revision>43</cp:revision>
  <dcterms:created xsi:type="dcterms:W3CDTF">2024-07-02T04:51:09Z</dcterms:created>
  <dcterms:modified xsi:type="dcterms:W3CDTF">2026-07-22T08:52:04Z</dcterms:modified>
</cp:coreProperties>
</file>